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F979E-8D61-49ED-B3D5-F8504BC9389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727A-5F5C-4CDD-809C-C15A914A8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997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F979E-8D61-49ED-B3D5-F8504BC9389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727A-5F5C-4CDD-809C-C15A914A8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33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F979E-8D61-49ED-B3D5-F8504BC9389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727A-5F5C-4CDD-809C-C15A914A8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339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F979E-8D61-49ED-B3D5-F8504BC9389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727A-5F5C-4CDD-809C-C15A914A8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329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F979E-8D61-49ED-B3D5-F8504BC9389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727A-5F5C-4CDD-809C-C15A914A8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334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F979E-8D61-49ED-B3D5-F8504BC9389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727A-5F5C-4CDD-809C-C15A914A8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008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F979E-8D61-49ED-B3D5-F8504BC9389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727A-5F5C-4CDD-809C-C15A914A8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58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F979E-8D61-49ED-B3D5-F8504BC9389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727A-5F5C-4CDD-809C-C15A914A8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402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F979E-8D61-49ED-B3D5-F8504BC9389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727A-5F5C-4CDD-809C-C15A914A8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530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F979E-8D61-49ED-B3D5-F8504BC9389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727A-5F5C-4CDD-809C-C15A914A8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746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F979E-8D61-49ED-B3D5-F8504BC9389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727A-5F5C-4CDD-809C-C15A914A8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832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F979E-8D61-49ED-B3D5-F8504BC9389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96727A-5F5C-4CDD-809C-C15A914A8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79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627415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Adobe Caslon Pro Bold" panose="0205070206050A020403" pitchFamily="18" charset="0"/>
              </a:rPr>
              <a:t>DATA CRAFTERS</a:t>
            </a:r>
            <a:endParaRPr lang="en-US" sz="3600" dirty="0">
              <a:latin typeface="Adobe Caslon Pro Bold" panose="0205070206050A0204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975556"/>
            <a:ext cx="9144000" cy="4143022"/>
          </a:xfrm>
        </p:spPr>
        <p:txBody>
          <a:bodyPr/>
          <a:lstStyle/>
          <a:p>
            <a:r>
              <a:rPr lang="en-US" dirty="0" smtClean="0"/>
              <a:t>Dataset Name: Indian National Family Health Survey (NFHS-5)</a:t>
            </a:r>
          </a:p>
          <a:p>
            <a:endParaRPr lang="en-US" dirty="0"/>
          </a:p>
          <a:p>
            <a:r>
              <a:rPr lang="en-US" dirty="0" smtClean="0"/>
              <a:t>Team Members: </a:t>
            </a:r>
          </a:p>
          <a:p>
            <a:r>
              <a:rPr lang="en-US" dirty="0" err="1" smtClean="0"/>
              <a:t>Gella</a:t>
            </a:r>
            <a:r>
              <a:rPr lang="en-US" dirty="0" smtClean="0"/>
              <a:t> Praveen</a:t>
            </a:r>
          </a:p>
          <a:p>
            <a:r>
              <a:rPr lang="en-US" dirty="0" smtClean="0"/>
              <a:t>Abhishek Panda </a:t>
            </a:r>
          </a:p>
          <a:p>
            <a:r>
              <a:rPr lang="en-US" dirty="0" smtClean="0"/>
              <a:t>Sheetal </a:t>
            </a:r>
            <a:r>
              <a:rPr lang="en-US" dirty="0" err="1" smtClean="0"/>
              <a:t>Mohanty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Ipsita</a:t>
            </a:r>
            <a:r>
              <a:rPr lang="en-US" dirty="0" smtClean="0"/>
              <a:t> Martha</a:t>
            </a:r>
          </a:p>
          <a:p>
            <a:r>
              <a:rPr lang="en-US" dirty="0" err="1" smtClean="0"/>
              <a:t>Gyana</a:t>
            </a:r>
            <a:r>
              <a:rPr lang="en-US" dirty="0" smtClean="0"/>
              <a:t> </a:t>
            </a:r>
            <a:r>
              <a:rPr lang="en-US" dirty="0" err="1" smtClean="0"/>
              <a:t>Ranjan</a:t>
            </a:r>
            <a:r>
              <a:rPr lang="en-US" dirty="0" smtClean="0"/>
              <a:t> </a:t>
            </a:r>
            <a:r>
              <a:rPr lang="en-US" dirty="0" err="1" smtClean="0"/>
              <a:t>Nayak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45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30615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 smtClean="0">
                <a:latin typeface="Adobe Caslon Pro Bold" panose="0205070206050A020403" pitchFamily="18" charset="0"/>
              </a:rPr>
              <a:t>OBJECTIVES</a:t>
            </a:r>
            <a:endParaRPr lang="en-US" sz="2400" b="1" dirty="0">
              <a:latin typeface="Adobe Caslon Pro Bold" panose="0205070206050A0204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088443"/>
            <a:ext cx="9144000" cy="3691467"/>
          </a:xfrm>
        </p:spPr>
        <p:txBody>
          <a:bodyPr>
            <a:normAutofit/>
          </a:bodyPr>
          <a:lstStyle/>
          <a:p>
            <a:pPr algn="just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Education-to-Health Dividend Analysis </a:t>
            </a:r>
          </a:p>
          <a:p>
            <a:pPr algn="just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Immunization and Child Survival Tracker </a:t>
            </a:r>
          </a:p>
          <a:p>
            <a:pPr algn="just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Public vs. Private Healthcare Efficiency and Cost Divergence </a:t>
            </a:r>
          </a:p>
          <a:p>
            <a:pPr algn="just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Institutional Birth Sector Divergence and Caesarean Burden </a:t>
            </a:r>
          </a:p>
          <a:p>
            <a:pPr algn="just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Alcohol Consumption Gender Gap &amp; Hotspot Analysis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6022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70933"/>
            <a:ext cx="9144000" cy="587023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 smtClean="0">
                <a:latin typeface="Adobe Caslon Pro Bold" panose="0205070206050A020403" pitchFamily="18" charset="0"/>
              </a:rPr>
              <a:t>DATA UNDERSTANDING</a:t>
            </a:r>
            <a:endParaRPr lang="en-US" sz="2400" b="1" dirty="0">
              <a:latin typeface="Adobe Caslon Pro Bold" panose="0205070206050A0204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857956"/>
            <a:ext cx="9144000" cy="4357511"/>
          </a:xfrm>
        </p:spPr>
        <p:txBody>
          <a:bodyPr>
            <a:norm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Granularity: The data is at the District-level, with a column for District Names and State/UT (Union Territory).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Scale: The vast majority of the columns are reported as percentages (%), indicating the prevalence or coverage rate of a specific indicator within that district.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Core Topics: The indicators cover four main domains:</a:t>
            </a:r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981103"/>
              </p:ext>
            </p:extLst>
          </p:nvPr>
        </p:nvGraphicFramePr>
        <p:xfrm>
          <a:off x="1524000" y="2638777"/>
          <a:ext cx="8128000" cy="37541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64178"/>
                <a:gridCol w="546382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DOMAIN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EXAMPLE METRICS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Demographics &amp; Education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Sex ratio, Population below age 15 years (%), Women (age 15-49) with 10 or more years of schooling (%), Women married before age 18 years (%).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Maternal &amp; Child Health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Institutional births (%), Children fully vaccinated (%), Antenatal care visits (%), Prevalence of </a:t>
                      </a:r>
                      <a:r>
                        <a:rPr lang="en-US" dirty="0" err="1" smtClean="0"/>
                        <a:t>diarrhoea</a:t>
                      </a:r>
                      <a:r>
                        <a:rPr lang="en-US" dirty="0" smtClean="0"/>
                        <a:t> (%).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Nutrition &amp; Lifestyle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Children stunted (%), Women overweight or obese (%), Children/Women who are </a:t>
                      </a:r>
                      <a:r>
                        <a:rPr lang="en-US" dirty="0" err="1" smtClean="0"/>
                        <a:t>anaemic</a:t>
                      </a:r>
                      <a:r>
                        <a:rPr lang="en-US" dirty="0" smtClean="0"/>
                        <a:t> (%), Tobacco and Alcohol consumption (%).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Household Amenities &amp; Access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Population living in households with electricity (%), Improved sanitation facility (%), Clean fuel for cooking (%), Health insurance coverage (%).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8316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46793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SUMMARY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818394"/>
            <a:ext cx="9144000" cy="4277606"/>
          </a:xfrm>
        </p:spPr>
        <p:txBody>
          <a:bodyPr>
            <a:norm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Cleaning: Essential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StepsStandardize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Names: Simplify overly long column names (e.g., 'Current Use of Family Planning...') and remove special characters ($, $\text{\%}$, etc.).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Clean Non-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Numerics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In percentage and value columns, replace placeholders (*, -) with Null or 0 in Power Query.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Correct Data Types: Convert all percentage and expenditure columns (like OOPE) from Text to Decimal Number for calculation.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Trim Geographic Text: Remove extra whitespace from District Names and State/UT for accurate filtering and geographic mapping.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Derived Metrics: Create simple calculated measures in DAX or Power Query where data is missing but inferable (e.g., Private Institutional Births).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716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92208"/>
          </a:xfrm>
        </p:spPr>
        <p:txBody>
          <a:bodyPr>
            <a:norm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407125"/>
              </p:ext>
            </p:extLst>
          </p:nvPr>
        </p:nvGraphicFramePr>
        <p:xfrm>
          <a:off x="508000" y="688623"/>
          <a:ext cx="11232444" cy="5283199"/>
        </p:xfrm>
        <a:graphic>
          <a:graphicData uri="http://schemas.openxmlformats.org/drawingml/2006/table">
            <a:tbl>
              <a:tblPr/>
              <a:tblGrid>
                <a:gridCol w="5616222"/>
                <a:gridCol w="5616222"/>
              </a:tblGrid>
              <a:tr h="320209"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Theme</a:t>
                      </a:r>
                      <a:endParaRPr lang="en-US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1809" marR="61809" marT="41206" marB="4120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Key Analytical Insight</a:t>
                      </a:r>
                      <a:endParaRPr 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1809" marR="61809" marT="41206" marB="4120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454"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Maternal &amp; Child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</a:t>
                      </a:r>
                    </a:p>
                  </a:txBody>
                  <a:tcPr marL="61809" marR="61809" marT="41206" marB="4120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Service Delivery Gaps: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The map reveals </a:t>
                      </a:r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critical districts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where high Institutional Birth rates are undercut by low </a:t>
                      </a:r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Full Immunization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rates, signaling a failure in post-maternity follow-up care.</a:t>
                      </a:r>
                    </a:p>
                  </a:txBody>
                  <a:tcPr marL="61809" marR="61809" marT="41206" marB="4120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3174"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Family Planning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</a:t>
                      </a:r>
                    </a:p>
                  </a:txBody>
                  <a:tcPr marL="61809" marR="61809" marT="41206" marB="4120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Intervention Priority: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The scatter plot isolates districts with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High Unmet Need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and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Low Modern Use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marking them as highest priority for resource allocation and shifting focus to community-based outreach.</a:t>
                      </a:r>
                    </a:p>
                  </a:txBody>
                  <a:tcPr marL="61809" marR="61809" marT="41206" marB="4120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454"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Education &amp; Equity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</a:t>
                      </a:r>
                    </a:p>
                  </a:txBody>
                  <a:tcPr marL="61809" marR="61809" marT="41206" marB="4120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Education Dividend Confirmed: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The correlation confirms that increased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Women's Higher Education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powerfully drives down the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Child Marriage Rate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proving it's a vital social preventative measure.</a:t>
                      </a:r>
                    </a:p>
                  </a:txBody>
                  <a:tcPr marL="61809" marR="61809" marT="41206" marB="4120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5196"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Nutrition &amp; Risk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</a:t>
                      </a:r>
                    </a:p>
                  </a:txBody>
                  <a:tcPr marL="61809" marR="61809" marT="41206" marB="4120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Dual Burden: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Geographic mapping highlights districts facing simultaneous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Child Stunting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and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Adult Obesity/Risk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(Dual Burden), necessitating integrated, comprehensive nutrition policies. High </a:t>
                      </a:r>
                      <a:r>
                        <a:rPr lang="en-US" sz="14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Anaemia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rates are a pervasive public health failure.</a:t>
                      </a:r>
                    </a:p>
                  </a:txBody>
                  <a:tcPr marL="61809" marR="61809" marT="41206" marB="4120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9712"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Infrastructure &amp; Cost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</a:t>
                      </a:r>
                    </a:p>
                  </a:txBody>
                  <a:tcPr marL="61809" marR="61809" marT="41206" marB="4120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Cost Barrier: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The OOPE ranked chart identifies specific districts where public healthcare imposes an unjustifiably high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Out-of-Pocket Expenditure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indicating hidden costs or poor regulation.</a:t>
                      </a:r>
                    </a:p>
                  </a:txBody>
                  <a:tcPr marL="61809" marR="61809" marT="41206" marB="4120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2590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&amp; Business Implications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218847"/>
              </p:ext>
            </p:extLst>
          </p:nvPr>
        </p:nvGraphicFramePr>
        <p:xfrm>
          <a:off x="838200" y="1230489"/>
          <a:ext cx="10100418" cy="4865097"/>
        </p:xfrm>
        <a:graphic>
          <a:graphicData uri="http://schemas.openxmlformats.org/drawingml/2006/table">
            <a:tbl>
              <a:tblPr/>
              <a:tblGrid>
                <a:gridCol w="3366806"/>
                <a:gridCol w="3366806"/>
                <a:gridCol w="3366806"/>
              </a:tblGrid>
              <a:tr h="436936">
                <a:tc>
                  <a:txBody>
                    <a:bodyPr/>
                    <a:lstStyle/>
                    <a:p>
                      <a:pPr rtl="0"/>
                      <a:r>
                        <a:rPr lang="en-US" sz="17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Policy Focus</a:t>
                      </a:r>
                      <a:endParaRPr lang="en-US" sz="17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5274" marR="105274" marT="70183" marB="701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7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Concise Recommendation</a:t>
                      </a:r>
                      <a:endParaRPr lang="en-US" sz="17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5274" marR="105274" marT="70183" marB="701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7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Business Implication / Action</a:t>
                      </a:r>
                      <a:endParaRPr lang="en-US" sz="17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5274" marR="105274" marT="70183" marB="701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0519">
                <a:tc>
                  <a:txBody>
                    <a:bodyPr/>
                    <a:lstStyle/>
                    <a:p>
                      <a:pPr rtl="0"/>
                      <a:r>
                        <a:rPr lang="en-US" sz="17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Maternal/Child</a:t>
                      </a:r>
                      <a:endParaRPr lang="en-US" sz="17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5274" marR="105274" marT="70183" marB="701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7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Integrate Care:</a:t>
                      </a:r>
                      <a:r>
                        <a:rPr lang="en-US" sz="17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Mandate linking maternal health data (ANC, Births) directly to </a:t>
                      </a:r>
                      <a:r>
                        <a:rPr lang="en-US" sz="17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Full Immunization</a:t>
                      </a:r>
                      <a:r>
                        <a:rPr lang="en-US" sz="17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tracking to ensure complete primary care.</a:t>
                      </a:r>
                    </a:p>
                  </a:txBody>
                  <a:tcPr marL="105274" marR="105274" marT="70183" marB="701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700" i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Health Dept.:</a:t>
                      </a:r>
                      <a:r>
                        <a:rPr lang="en-US" sz="17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Implement a unified KPI system connecting all MCH services.</a:t>
                      </a:r>
                    </a:p>
                  </a:txBody>
                  <a:tcPr marL="105274" marR="105274" marT="70183" marB="701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0519">
                <a:tc>
                  <a:txBody>
                    <a:bodyPr/>
                    <a:lstStyle/>
                    <a:p>
                      <a:pPr rtl="0"/>
                      <a:r>
                        <a:rPr lang="en-US" sz="17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Social Investment</a:t>
                      </a:r>
                      <a:endParaRPr lang="en-US" sz="17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5274" marR="105274" marT="70183" marB="701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7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Fund Education as Health:</a:t>
                      </a:r>
                      <a:r>
                        <a:rPr lang="en-US" sz="17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Prioritize funding for girl's secondary schooling in "Low Education, High Child Marriage" districts.</a:t>
                      </a:r>
                    </a:p>
                  </a:txBody>
                  <a:tcPr marL="105274" marR="105274" marT="70183" marB="701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700" i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State Planning:</a:t>
                      </a:r>
                      <a:r>
                        <a:rPr lang="en-US" sz="17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Use data to justify convergence funds across education and social welfare sectors.</a:t>
                      </a:r>
                    </a:p>
                  </a:txBody>
                  <a:tcPr marL="105274" marR="105274" marT="70183" marB="701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7123">
                <a:tc>
                  <a:txBody>
                    <a:bodyPr/>
                    <a:lstStyle/>
                    <a:p>
                      <a:pPr rtl="0"/>
                      <a:r>
                        <a:rPr lang="en-US" sz="17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Healthcare Efficiency</a:t>
                      </a:r>
                      <a:endParaRPr lang="en-US" sz="17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5274" marR="105274" marT="70183" marB="701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7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Audit OOPE Outliers:</a:t>
                      </a:r>
                      <a:r>
                        <a:rPr lang="en-US" sz="17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Immediately investigate districts with disproportionately high </a:t>
                      </a:r>
                      <a:r>
                        <a:rPr lang="en-US" sz="17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OOPE for Public Deliveries</a:t>
                      </a:r>
                      <a:r>
                        <a:rPr lang="en-US" sz="17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5274" marR="105274" marT="70183" marB="701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700" i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Financial Wing:</a:t>
                      </a:r>
                      <a:r>
                        <a:rPr lang="en-US" sz="17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Establish a formal monitoring system to flag and investigate high-cost public facilities.</a:t>
                      </a:r>
                    </a:p>
                  </a:txBody>
                  <a:tcPr marL="105274" marR="105274" marT="70183" marB="701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5692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29015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Learning Summary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043289"/>
            <a:ext cx="9144000" cy="3214511"/>
          </a:xfrm>
        </p:spPr>
        <p:txBody>
          <a:bodyPr>
            <a:normAutofit/>
          </a:bodyPr>
          <a:lstStyle/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simple dashboard transforms complex NFHS-5 data into a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clear, actionable policy tool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It moves beyond national averages to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pinpoint specific outlier districts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visually confirms that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social investment, particularly in female education, yields the highest return on health and demographic equity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The core learning is to use data to prioritize districts for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converging interventions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where health, education, and social sectors must work together.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835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720</Words>
  <Application>Microsoft Office PowerPoint</Application>
  <PresentationFormat>Widescreen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Adobe Caslon Pro Bold</vt:lpstr>
      <vt:lpstr>Arial</vt:lpstr>
      <vt:lpstr>Calibri</vt:lpstr>
      <vt:lpstr>Calibri Light</vt:lpstr>
      <vt:lpstr>Google Sans Text</vt:lpstr>
      <vt:lpstr>Times New Roman</vt:lpstr>
      <vt:lpstr>Wingdings</vt:lpstr>
      <vt:lpstr>Office Theme</vt:lpstr>
      <vt:lpstr>DATA CRAFTERS</vt:lpstr>
      <vt:lpstr>OBJECTIVES</vt:lpstr>
      <vt:lpstr>DATA UNDERSTANDING</vt:lpstr>
      <vt:lpstr>CLEANING SUMMARY</vt:lpstr>
      <vt:lpstr>….</vt:lpstr>
      <vt:lpstr>Recommendations &amp; Business Implications  </vt:lpstr>
      <vt:lpstr>Conclusion and Learning Summary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CRAFTERS</dc:title>
  <dc:creator>Microsoft account</dc:creator>
  <cp:lastModifiedBy>Microsoft account</cp:lastModifiedBy>
  <cp:revision>6</cp:revision>
  <dcterms:created xsi:type="dcterms:W3CDTF">2025-11-03T21:39:49Z</dcterms:created>
  <dcterms:modified xsi:type="dcterms:W3CDTF">2025-11-03T23:11:20Z</dcterms:modified>
</cp:coreProperties>
</file>